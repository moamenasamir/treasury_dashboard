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2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Opening Balance</c:v>
                </c:pt>
              </c:strCache>
            </c:strRef>
          </c:tx>
          <c:spPr>
            <a:solidFill>
              <a:srgbClr val="C8932A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Horizon</c:v>
                </c:pt>
                <c:pt idx="1">
                  <c:v>Meridian</c:v>
                </c:pt>
                <c:pt idx="2">
                  <c:v>Coral Trust</c:v>
                </c:pt>
                <c:pt idx="3">
                  <c:v>Atlas National</c:v>
                </c:pt>
                <c:pt idx="4">
                  <c:v>Nile Capital</c:v>
                </c:pt>
                <c:pt idx="5">
                  <c:v>Falcon</c:v>
                </c:pt>
                <c:pt idx="6">
                  <c:v>Crescent</c:v>
                </c:pt>
                <c:pt idx="7">
                  <c:v>Vault</c:v>
                </c:pt>
                <c:pt idx="8">
                  <c:v>Summit Trust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412000</c:v>
                </c:pt>
                <c:pt idx="1">
                  <c:v>318500</c:v>
                </c:pt>
                <c:pt idx="2">
                  <c:v>275000</c:v>
                </c:pt>
                <c:pt idx="3">
                  <c:v>198000</c:v>
                </c:pt>
                <c:pt idx="4">
                  <c:v>156000</c:v>
                </c:pt>
                <c:pt idx="5">
                  <c:v>142500</c:v>
                </c:pt>
                <c:pt idx="6">
                  <c:v>130000</c:v>
                </c:pt>
                <c:pt idx="7">
                  <c:v>118000</c:v>
                </c:pt>
                <c:pt idx="8">
                  <c:v>109500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F4-49E5-9FFB-751AFB63F6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Closing Balance</c:v>
                </c:pt>
              </c:strCache>
            </c:strRef>
          </c:tx>
          <c:spPr>
            <a:solidFill>
              <a:srgbClr val="8A4FBF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Horizon</c:v>
                </c:pt>
                <c:pt idx="1">
                  <c:v>Meridian</c:v>
                </c:pt>
                <c:pt idx="2">
                  <c:v>Coral Trust</c:v>
                </c:pt>
                <c:pt idx="3">
                  <c:v>Atlas National</c:v>
                </c:pt>
                <c:pt idx="4">
                  <c:v>Nile Capital</c:v>
                </c:pt>
                <c:pt idx="5">
                  <c:v>Falcon</c:v>
                </c:pt>
                <c:pt idx="6">
                  <c:v>Crescent</c:v>
                </c:pt>
                <c:pt idx="7">
                  <c:v>Vault</c:v>
                </c:pt>
                <c:pt idx="8">
                  <c:v>Summit Trust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1672000</c:v>
                </c:pt>
                <c:pt idx="1">
                  <c:v>898500</c:v>
                </c:pt>
                <c:pt idx="2">
                  <c:v>1040000</c:v>
                </c:pt>
                <c:pt idx="3">
                  <c:v>548000</c:v>
                </c:pt>
                <c:pt idx="4">
                  <c:v>441000</c:v>
                </c:pt>
                <c:pt idx="5">
                  <c:v>464500</c:v>
                </c:pt>
                <c:pt idx="6">
                  <c:v>350000</c:v>
                </c:pt>
                <c:pt idx="7">
                  <c:v>285000</c:v>
                </c:pt>
                <c:pt idx="8">
                  <c:v>274500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AF4-49E5-9FFB-751AFB63F6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B9C6D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46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9C6D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314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B9C6D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314F"/>
    </a:solidFill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E3D9A-083D-BFD2-E04E-BD53F3D92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23D89-60FB-FF8C-8414-435BBA8826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8F3A3-AE4F-3A16-6CF0-2048B6E6D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BCA94-0ADB-580C-4F9E-BBE7B299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44DCE-8B4D-CA0F-38C9-AD7F0158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793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23C4-0DBC-E325-0B22-6B6461403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A1EC4-9B3C-F12B-56CA-9FCCFC9D8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E752A-725A-B274-CBAA-7269DA610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5F31F-A662-B05F-DD12-E155856B0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8DA17-5DAF-C70D-7993-552828760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48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C2947-F102-4DAA-9AC2-AE70FC5F1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1B25B-295E-E653-3A2A-B5EBB9B25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D3C99-CA8C-A3CB-8A40-3B3FC2F18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3ED28-8E9E-1A80-613F-3DAD25B7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A1264-A4FE-6804-8AC7-41A547637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74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448AB-93EC-24A6-9AFB-4D1374BD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77F9D-5B45-E930-7A16-E3CF28C3A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9D175F-25C9-B03A-BDFF-41CEBE310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ECF55-BA35-1B59-3FA0-7CCFCAAB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E3FDA-F210-0638-864B-5AEA1DBC4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F8711-7D11-18CE-3466-AAB4E1D82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414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373A2-2418-8D9E-7FF0-A8EAD14DD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3FA11-1DD3-D397-27F5-9B33A0FD4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DED1A8-2117-648A-12D7-86CE753798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D0623F-8C47-ECF7-81A5-98F2991F9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EFE4B-4172-04A0-AECE-103E9C54D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B4D019-6F96-76E1-6828-678476DC3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610FDA-4C1D-AE74-FC6C-4DABAB1B1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73F655-6651-ABCB-8424-A72DB654A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54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E5D7B-60CC-FBE3-169E-BC71869A1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51491F-7777-90FB-63BA-49FBFE60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CD7BF-1A7F-5C35-BDE0-2189F481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5FB57D-3537-55AE-EE02-764E7082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8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808504-B98E-9C04-D76A-B4BDEBB8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F2168C-6E76-06C9-0D81-F4E558D7F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13DDC-6220-A632-1DAB-F3B0F0E8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89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2B5D3-6542-7FD2-CC65-9BB88B66D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908C8-D26F-6E1B-931D-CB9DD4949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D1873-0359-8C9E-01C5-24B5D86AF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E523C-B69E-AD9F-A852-E52AACA2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FDF18-6635-8BDC-784A-CEBF290F1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CFF36E-2F16-B135-9DFE-E342E1B0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71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C02BA-F35E-DBB0-7C23-97E1FC69E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F133FE-B5CD-448D-44C2-9B87B38C1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33103-2E85-2EE6-79F3-0B411BFFF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46C6E-A633-4C10-DE37-06D6EDBA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FB6F2-E569-F8EC-EF01-10041537E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793FE-2386-70FC-3D0D-F8C7F735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76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D9D4C-D324-E3C5-41E8-70C5F18D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08DDFC-C4E9-7954-DAF3-4515A7730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9B29B-1145-21C1-5A9D-DFE3477D2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401AAF-936D-B6F2-EC04-2C9D03D6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B9995-8CFF-FAA0-C8A2-AB189A2AE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58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E74A1C-0156-4704-5F49-E494A592B7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632CD-4295-DA2C-F625-99AFBE3C7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A0DA7-4707-B8F3-ABE7-A9CA43A7D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09CB7-EA43-5096-AB43-2BA389433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798A5-84DB-128E-8E63-3FB42DD5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530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6E04A0-5DA8-9BBB-BF4F-D59A553CA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1107F-B1B4-316F-C28B-4F63B504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7CC5C-A671-D0FC-5292-7F4D07232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2646B-DF00-4C84-9E52-64EC84525252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47D39-99A0-616A-9254-A92E7494F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5987F-571C-ED54-8D10-2DAD1890C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9BEA0-91A3-4EFE-B925-015A86991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4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A4CE5B89-3913-4DD1-4168-E963F0083597}"/>
              </a:ext>
            </a:extLst>
          </p:cNvPr>
          <p:cNvSpPr/>
          <p:nvPr/>
        </p:nvSpPr>
        <p:spPr>
          <a:xfrm>
            <a:off x="457200" y="384048"/>
            <a:ext cx="502920" cy="502920"/>
          </a:xfrm>
          <a:prstGeom prst="ellipse">
            <a:avLst/>
          </a:prstGeom>
          <a:solidFill>
            <a:srgbClr val="C8932A"/>
          </a:solidFill>
          <a:ln/>
        </p:spPr>
      </p:sp>
      <p:pic>
        <p:nvPicPr>
          <p:cNvPr id="5" name="Image 0" descr="assets/university_white.png">
            <a:extLst>
              <a:ext uri="{FF2B5EF4-FFF2-40B4-BE49-F238E27FC236}">
                <a16:creationId xmlns:a16="http://schemas.microsoft.com/office/drawing/2014/main" id="{CA5F470F-11D1-119E-1258-CD1741487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512064"/>
            <a:ext cx="246888" cy="246888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BC04A26D-873E-94A8-7061-3BCA8F1C060C}"/>
              </a:ext>
            </a:extLst>
          </p:cNvPr>
          <p:cNvSpPr/>
          <p:nvPr/>
        </p:nvSpPr>
        <p:spPr>
          <a:xfrm>
            <a:off x="1097280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CURRENCY BALANCE DASHBOARD</a:t>
            </a:r>
            <a:endParaRPr lang="en-US" sz="11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2F2968A4-E2C1-F0C9-8608-BD6DE50ECCF7}"/>
              </a:ext>
            </a:extLst>
          </p:cNvPr>
          <p:cNvSpPr/>
          <p:nvPr/>
        </p:nvSpPr>
        <p:spPr>
          <a:xfrm>
            <a:off x="109728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Position Overview — Local Currency</a:t>
            </a:r>
            <a:endParaRPr lang="en-US" sz="20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BE3533C-0931-14DA-DC63-33108F325CD8}"/>
              </a:ext>
            </a:extLst>
          </p:cNvPr>
          <p:cNvSpPr/>
          <p:nvPr/>
        </p:nvSpPr>
        <p:spPr>
          <a:xfrm>
            <a:off x="8275320" y="347472"/>
            <a:ext cx="2697480" cy="713232"/>
          </a:xfrm>
          <a:prstGeom prst="roundRect">
            <a:avLst>
              <a:gd name="adj" fmla="val 10256"/>
            </a:avLst>
          </a:prstGeom>
          <a:solidFill>
            <a:srgbClr val="16314F"/>
          </a:solidFill>
          <a:ln w="12700">
            <a:solidFill>
              <a:srgbClr val="2A4A72"/>
            </a:solidFill>
            <a:prstDash val="solid"/>
          </a:ln>
        </p:spPr>
      </p:sp>
      <p:pic>
        <p:nvPicPr>
          <p:cNvPr id="9" name="Image 1" descr="assets/calendar_white.png">
            <a:extLst>
              <a:ext uri="{FF2B5EF4-FFF2-40B4-BE49-F238E27FC236}">
                <a16:creationId xmlns:a16="http://schemas.microsoft.com/office/drawing/2014/main" id="{C7D77EB8-5292-49F0-68B7-97C075287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502920"/>
            <a:ext cx="237744" cy="237744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D239043B-C8F8-AD13-35AB-004017EFF20F}"/>
              </a:ext>
            </a:extLst>
          </p:cNvPr>
          <p:cNvSpPr/>
          <p:nvPr/>
        </p:nvSpPr>
        <p:spPr>
          <a:xfrm>
            <a:off x="8732520" y="4572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1, 2025  –  Dec 1, 2025</a:t>
            </a:r>
            <a:endParaRPr lang="en-US" sz="11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745C08BD-F26F-8917-8F6F-57B39D04FFC4}"/>
              </a:ext>
            </a:extLst>
          </p:cNvPr>
          <p:cNvSpPr/>
          <p:nvPr/>
        </p:nvSpPr>
        <p:spPr>
          <a:xfrm>
            <a:off x="8430768" y="749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view: Local (EGP)  |  USD available</a:t>
            </a:r>
            <a:endParaRPr lang="en-US" sz="8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E29C8691-636C-BEC2-C24C-C8BA02F635E9}"/>
              </a:ext>
            </a:extLst>
          </p:cNvPr>
          <p:cNvSpPr/>
          <p:nvPr/>
        </p:nvSpPr>
        <p:spPr>
          <a:xfrm>
            <a:off x="457200" y="1234440"/>
            <a:ext cx="1792224" cy="914400"/>
          </a:xfrm>
          <a:prstGeom prst="roundRect">
            <a:avLst>
              <a:gd name="adj" fmla="val 7000"/>
            </a:avLst>
          </a:prstGeom>
          <a:solidFill>
            <a:srgbClr val="16314F"/>
          </a:solidFill>
          <a:ln w="12700">
            <a:solidFill>
              <a:srgbClr val="26466E"/>
            </a:solidFill>
            <a:prstDash val="solid"/>
          </a:ln>
        </p:spPr>
      </p:sp>
      <p:pic>
        <p:nvPicPr>
          <p:cNvPr id="13" name="Image 2" descr="assets/wallet_gold.png">
            <a:extLst>
              <a:ext uri="{FF2B5EF4-FFF2-40B4-BE49-F238E27FC236}">
                <a16:creationId xmlns:a16="http://schemas.microsoft.com/office/drawing/2014/main" id="{283B5D28-9B44-680D-61E6-69DE382ED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1380744"/>
            <a:ext cx="237744" cy="237744"/>
          </a:xfrm>
          <a:prstGeom prst="rect">
            <a:avLst/>
          </a:prstGeom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A6063DB8-F57E-7D53-B80A-7B6CD1005943}"/>
              </a:ext>
            </a:extLst>
          </p:cNvPr>
          <p:cNvSpPr/>
          <p:nvPr/>
        </p:nvSpPr>
        <p:spPr>
          <a:xfrm>
            <a:off x="603504" y="1655064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1.86M</a:t>
            </a:r>
            <a:endParaRPr lang="en-US" sz="17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3D01FB2F-9A54-4E55-76CB-8EF60D1B6D84}"/>
              </a:ext>
            </a:extLst>
          </p:cNvPr>
          <p:cNvSpPr/>
          <p:nvPr/>
        </p:nvSpPr>
        <p:spPr>
          <a:xfrm>
            <a:off x="603504" y="194767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Opening Balance</a:t>
            </a:r>
            <a:endParaRPr lang="en-US" sz="73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1C41BF8-837C-AC43-CAF7-44CDD7F02058}"/>
              </a:ext>
            </a:extLst>
          </p:cNvPr>
          <p:cNvSpPr/>
          <p:nvPr/>
        </p:nvSpPr>
        <p:spPr>
          <a:xfrm>
            <a:off x="2377440" y="1234440"/>
            <a:ext cx="1792224" cy="914400"/>
          </a:xfrm>
          <a:prstGeom prst="roundRect">
            <a:avLst>
              <a:gd name="adj" fmla="val 7000"/>
            </a:avLst>
          </a:prstGeom>
          <a:solidFill>
            <a:srgbClr val="16314F"/>
          </a:solidFill>
          <a:ln w="12700">
            <a:solidFill>
              <a:srgbClr val="26466E"/>
            </a:solidFill>
            <a:prstDash val="solid"/>
          </a:ln>
        </p:spPr>
      </p:sp>
      <p:pic>
        <p:nvPicPr>
          <p:cNvPr id="17" name="Image 3" descr="assets/arrowup_green.png">
            <a:extLst>
              <a:ext uri="{FF2B5EF4-FFF2-40B4-BE49-F238E27FC236}">
                <a16:creationId xmlns:a16="http://schemas.microsoft.com/office/drawing/2014/main" id="{1A59562D-70A6-34F1-AEA2-3159A950F3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744" y="1380744"/>
            <a:ext cx="237744" cy="237744"/>
          </a:xfrm>
          <a:prstGeom prst="rect">
            <a:avLst/>
          </a:prstGeom>
        </p:spPr>
      </p:pic>
      <p:sp>
        <p:nvSpPr>
          <p:cNvPr id="18" name="Text 10">
            <a:extLst>
              <a:ext uri="{FF2B5EF4-FFF2-40B4-BE49-F238E27FC236}">
                <a16:creationId xmlns:a16="http://schemas.microsoft.com/office/drawing/2014/main" id="{199D50EE-38D4-1365-1F55-A3912006FB37}"/>
              </a:ext>
            </a:extLst>
          </p:cNvPr>
          <p:cNvSpPr/>
          <p:nvPr/>
        </p:nvSpPr>
        <p:spPr>
          <a:xfrm>
            <a:off x="2523744" y="1655064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35.53M</a:t>
            </a:r>
            <a:endParaRPr lang="en-US" sz="17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8F469F7C-BC30-B55C-BF8A-EE4240E92447}"/>
              </a:ext>
            </a:extLst>
          </p:cNvPr>
          <p:cNvSpPr/>
          <p:nvPr/>
        </p:nvSpPr>
        <p:spPr>
          <a:xfrm>
            <a:off x="2523744" y="194767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&amp; Other Inflows</a:t>
            </a:r>
            <a:endParaRPr lang="en-US" sz="730" dirty="0"/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D913E947-BAFB-87E1-240B-A57B54589369}"/>
              </a:ext>
            </a:extLst>
          </p:cNvPr>
          <p:cNvSpPr/>
          <p:nvPr/>
        </p:nvSpPr>
        <p:spPr>
          <a:xfrm>
            <a:off x="4297680" y="1234440"/>
            <a:ext cx="1792224" cy="914400"/>
          </a:xfrm>
          <a:prstGeom prst="roundRect">
            <a:avLst>
              <a:gd name="adj" fmla="val 7000"/>
            </a:avLst>
          </a:prstGeom>
          <a:solidFill>
            <a:srgbClr val="16314F"/>
          </a:solidFill>
          <a:ln w="12700">
            <a:solidFill>
              <a:srgbClr val="26466E"/>
            </a:solidFill>
            <a:prstDash val="solid"/>
          </a:ln>
        </p:spPr>
      </p:sp>
      <p:pic>
        <p:nvPicPr>
          <p:cNvPr id="21" name="Image 4" descr="assets/arrowdown_red.png">
            <a:extLst>
              <a:ext uri="{FF2B5EF4-FFF2-40B4-BE49-F238E27FC236}">
                <a16:creationId xmlns:a16="http://schemas.microsoft.com/office/drawing/2014/main" id="{4BBF9884-C844-C321-1FDC-4E1D5F48EA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3984" y="1380744"/>
            <a:ext cx="237744" cy="237744"/>
          </a:xfrm>
          <a:prstGeom prst="rect">
            <a:avLst/>
          </a:prstGeom>
        </p:spPr>
      </p:pic>
      <p:sp>
        <p:nvSpPr>
          <p:cNvPr id="22" name="Text 13">
            <a:extLst>
              <a:ext uri="{FF2B5EF4-FFF2-40B4-BE49-F238E27FC236}">
                <a16:creationId xmlns:a16="http://schemas.microsoft.com/office/drawing/2014/main" id="{C23A0057-110A-9136-951E-FA116A2C2524}"/>
              </a:ext>
            </a:extLst>
          </p:cNvPr>
          <p:cNvSpPr/>
          <p:nvPr/>
        </p:nvSpPr>
        <p:spPr>
          <a:xfrm>
            <a:off x="4443984" y="1655064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31.42M</a:t>
            </a:r>
            <a:endParaRPr lang="en-US" sz="17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F22CDA8E-28A7-5446-4A53-AFA56ED8DFD1}"/>
              </a:ext>
            </a:extLst>
          </p:cNvPr>
          <p:cNvSpPr/>
          <p:nvPr/>
        </p:nvSpPr>
        <p:spPr>
          <a:xfrm>
            <a:off x="4443984" y="194767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 &amp; Other Outflows</a:t>
            </a:r>
            <a:endParaRPr lang="en-US" sz="730" dirty="0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7F4FFB93-FF91-6145-AEC6-3180DFB40310}"/>
              </a:ext>
            </a:extLst>
          </p:cNvPr>
          <p:cNvSpPr/>
          <p:nvPr/>
        </p:nvSpPr>
        <p:spPr>
          <a:xfrm>
            <a:off x="6217920" y="1234440"/>
            <a:ext cx="1792224" cy="914400"/>
          </a:xfrm>
          <a:prstGeom prst="roundRect">
            <a:avLst>
              <a:gd name="adj" fmla="val 7000"/>
            </a:avLst>
          </a:prstGeom>
          <a:solidFill>
            <a:srgbClr val="16314F"/>
          </a:solidFill>
          <a:ln w="12700">
            <a:solidFill>
              <a:srgbClr val="26466E"/>
            </a:solidFill>
            <a:prstDash val="solid"/>
          </a:ln>
        </p:spPr>
      </p:sp>
      <p:pic>
        <p:nvPicPr>
          <p:cNvPr id="25" name="Image 5" descr="assets/chart_white.png">
            <a:extLst>
              <a:ext uri="{FF2B5EF4-FFF2-40B4-BE49-F238E27FC236}">
                <a16:creationId xmlns:a16="http://schemas.microsoft.com/office/drawing/2014/main" id="{E04A8898-73A8-ED60-8028-B8962307C4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224" y="1380744"/>
            <a:ext cx="237744" cy="237744"/>
          </a:xfrm>
          <a:prstGeom prst="rect">
            <a:avLst/>
          </a:prstGeom>
        </p:spPr>
      </p:pic>
      <p:sp>
        <p:nvSpPr>
          <p:cNvPr id="26" name="Text 16">
            <a:extLst>
              <a:ext uri="{FF2B5EF4-FFF2-40B4-BE49-F238E27FC236}">
                <a16:creationId xmlns:a16="http://schemas.microsoft.com/office/drawing/2014/main" id="{FDF65D52-C8E9-BCBA-714B-F6CAC4EAE977}"/>
              </a:ext>
            </a:extLst>
          </p:cNvPr>
          <p:cNvSpPr/>
          <p:nvPr/>
        </p:nvSpPr>
        <p:spPr>
          <a:xfrm>
            <a:off x="6364224" y="1655064"/>
            <a:ext cx="15179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5.97M</a:t>
            </a:r>
            <a:endParaRPr lang="en-US" sz="1700" dirty="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F6CBD1D7-45FA-1E03-E257-A08E11A372FC}"/>
              </a:ext>
            </a:extLst>
          </p:cNvPr>
          <p:cNvSpPr/>
          <p:nvPr/>
        </p:nvSpPr>
        <p:spPr>
          <a:xfrm>
            <a:off x="6364224" y="194767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3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Closing Balance</a:t>
            </a:r>
            <a:endParaRPr lang="en-US" sz="73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9244C3B8-E366-722C-BE87-38D6AE3846F3}"/>
              </a:ext>
            </a:extLst>
          </p:cNvPr>
          <p:cNvSpPr/>
          <p:nvPr/>
        </p:nvSpPr>
        <p:spPr>
          <a:xfrm>
            <a:off x="457200" y="2331720"/>
            <a:ext cx="7635240" cy="1965960"/>
          </a:xfrm>
          <a:prstGeom prst="roundRect">
            <a:avLst>
              <a:gd name="adj" fmla="val 2791"/>
            </a:avLst>
          </a:prstGeom>
          <a:solidFill>
            <a:srgbClr val="16314F"/>
          </a:solidFill>
          <a:ln w="12700">
            <a:solidFill>
              <a:srgbClr val="26466E"/>
            </a:solidFill>
            <a:prstDash val="solid"/>
          </a:ln>
        </p:spPr>
      </p:sp>
      <p:sp>
        <p:nvSpPr>
          <p:cNvPr id="29" name="Text 19">
            <a:extLst>
              <a:ext uri="{FF2B5EF4-FFF2-40B4-BE49-F238E27FC236}">
                <a16:creationId xmlns:a16="http://schemas.microsoft.com/office/drawing/2014/main" id="{7B43C0B1-01E6-446D-DD75-BDCBC5AF4B25}"/>
              </a:ext>
            </a:extLst>
          </p:cNvPr>
          <p:cNvSpPr/>
          <p:nvPr/>
        </p:nvSpPr>
        <p:spPr>
          <a:xfrm>
            <a:off x="685800" y="2441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vs. Closing Balance by Bank</a:t>
            </a:r>
            <a:endParaRPr lang="en-US" sz="1150" dirty="0"/>
          </a:p>
        </p:txBody>
      </p:sp>
      <p:graphicFrame>
        <p:nvGraphicFramePr>
          <p:cNvPr id="30" name="Chart 0">
            <a:extLst>
              <a:ext uri="{FF2B5EF4-FFF2-40B4-BE49-F238E27FC236}">
                <a16:creationId xmlns:a16="http://schemas.microsoft.com/office/drawing/2014/main" id="{3066832C-F37B-9A5F-6BAE-921A48029E32}"/>
              </a:ext>
            </a:extLst>
          </p:cNvPr>
          <p:cNvGraphicFramePr/>
          <p:nvPr/>
        </p:nvGraphicFramePr>
        <p:xfrm>
          <a:off x="548640" y="2770632"/>
          <a:ext cx="74523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31" name="Shape 20">
            <a:extLst>
              <a:ext uri="{FF2B5EF4-FFF2-40B4-BE49-F238E27FC236}">
                <a16:creationId xmlns:a16="http://schemas.microsoft.com/office/drawing/2014/main" id="{80024491-302C-BD6B-E724-7421A4CE6ED8}"/>
              </a:ext>
            </a:extLst>
          </p:cNvPr>
          <p:cNvSpPr/>
          <p:nvPr/>
        </p:nvSpPr>
        <p:spPr>
          <a:xfrm>
            <a:off x="8275320" y="1234440"/>
            <a:ext cx="2697480" cy="3063240"/>
          </a:xfrm>
          <a:prstGeom prst="roundRect">
            <a:avLst>
              <a:gd name="adj" fmla="val 2373"/>
            </a:avLst>
          </a:prstGeom>
          <a:solidFill>
            <a:srgbClr val="16314F"/>
          </a:solidFill>
          <a:ln w="12700">
            <a:solidFill>
              <a:srgbClr val="26466E"/>
            </a:solidFill>
            <a:prstDash val="solid"/>
          </a:ln>
        </p:spPr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6D5A7994-F7BE-A6DE-AF22-B60B35725876}"/>
              </a:ext>
            </a:extLst>
          </p:cNvPr>
          <p:cNvSpPr/>
          <p:nvPr/>
        </p:nvSpPr>
        <p:spPr>
          <a:xfrm>
            <a:off x="8476488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Accounts</a:t>
            </a:r>
            <a:endParaRPr lang="en-US" sz="1150" dirty="0"/>
          </a:p>
        </p:txBody>
      </p:sp>
      <p:pic>
        <p:nvPicPr>
          <p:cNvPr id="33" name="Image 6" descr="assets/check_green.png">
            <a:extLst>
              <a:ext uri="{FF2B5EF4-FFF2-40B4-BE49-F238E27FC236}">
                <a16:creationId xmlns:a16="http://schemas.microsoft.com/office/drawing/2014/main" id="{D488FF56-86E9-A21A-C070-09DF05432D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1773936"/>
            <a:ext cx="137160" cy="137160"/>
          </a:xfrm>
          <a:prstGeom prst="rect">
            <a:avLst/>
          </a:prstGeom>
        </p:spPr>
      </p:pic>
      <p:sp>
        <p:nvSpPr>
          <p:cNvPr id="34" name="Text 22">
            <a:extLst>
              <a:ext uri="{FF2B5EF4-FFF2-40B4-BE49-F238E27FC236}">
                <a16:creationId xmlns:a16="http://schemas.microsoft.com/office/drawing/2014/main" id="{CDB695C5-3DED-7E1E-EA56-706E5CF7E301}"/>
              </a:ext>
            </a:extLst>
          </p:cNvPr>
          <p:cNvSpPr/>
          <p:nvPr/>
        </p:nvSpPr>
        <p:spPr>
          <a:xfrm>
            <a:off x="8686800" y="171907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Bank</a:t>
            </a:r>
            <a:endParaRPr lang="en-US" sz="950" dirty="0"/>
          </a:p>
        </p:txBody>
      </p:sp>
      <p:pic>
        <p:nvPicPr>
          <p:cNvPr id="35" name="Image 7" descr="assets/check_green.png">
            <a:extLst>
              <a:ext uri="{FF2B5EF4-FFF2-40B4-BE49-F238E27FC236}">
                <a16:creationId xmlns:a16="http://schemas.microsoft.com/office/drawing/2014/main" id="{78C2B983-DD8F-4D48-F5F3-33306B0426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2029968"/>
            <a:ext cx="137160" cy="137160"/>
          </a:xfrm>
          <a:prstGeom prst="rect">
            <a:avLst/>
          </a:prstGeom>
        </p:spPr>
      </p:pic>
      <p:sp>
        <p:nvSpPr>
          <p:cNvPr id="36" name="Text 23">
            <a:extLst>
              <a:ext uri="{FF2B5EF4-FFF2-40B4-BE49-F238E27FC236}">
                <a16:creationId xmlns:a16="http://schemas.microsoft.com/office/drawing/2014/main" id="{B6C73467-73FE-9E5A-C3B3-8524AA24E603}"/>
              </a:ext>
            </a:extLst>
          </p:cNvPr>
          <p:cNvSpPr/>
          <p:nvPr/>
        </p:nvSpPr>
        <p:spPr>
          <a:xfrm>
            <a:off x="8686800" y="19751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</a:t>
            </a:r>
            <a:endParaRPr lang="en-US" sz="950" dirty="0"/>
          </a:p>
        </p:txBody>
      </p:sp>
      <p:pic>
        <p:nvPicPr>
          <p:cNvPr id="37" name="Image 8" descr="assets/check_green.png">
            <a:extLst>
              <a:ext uri="{FF2B5EF4-FFF2-40B4-BE49-F238E27FC236}">
                <a16:creationId xmlns:a16="http://schemas.microsoft.com/office/drawing/2014/main" id="{EE23AE5D-3B91-9881-79BF-642B8097B9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2286000"/>
            <a:ext cx="137160" cy="137160"/>
          </a:xfrm>
          <a:prstGeom prst="rect">
            <a:avLst/>
          </a:prstGeom>
        </p:spPr>
      </p:pic>
      <p:sp>
        <p:nvSpPr>
          <p:cNvPr id="38" name="Text 24">
            <a:extLst>
              <a:ext uri="{FF2B5EF4-FFF2-40B4-BE49-F238E27FC236}">
                <a16:creationId xmlns:a16="http://schemas.microsoft.com/office/drawing/2014/main" id="{C59D85BC-5F51-7D62-9CE8-1186C155A727}"/>
              </a:ext>
            </a:extLst>
          </p:cNvPr>
          <p:cNvSpPr/>
          <p:nvPr/>
        </p:nvSpPr>
        <p:spPr>
          <a:xfrm>
            <a:off x="8686800" y="2231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 Trust Bank</a:t>
            </a:r>
            <a:endParaRPr lang="en-US" sz="950" dirty="0"/>
          </a:p>
        </p:txBody>
      </p:sp>
      <p:pic>
        <p:nvPicPr>
          <p:cNvPr id="39" name="Image 9" descr="assets/check_green.png">
            <a:extLst>
              <a:ext uri="{FF2B5EF4-FFF2-40B4-BE49-F238E27FC236}">
                <a16:creationId xmlns:a16="http://schemas.microsoft.com/office/drawing/2014/main" id="{9C5EF59C-C92A-78C2-6746-B571BB637F2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2542032"/>
            <a:ext cx="137160" cy="137160"/>
          </a:xfrm>
          <a:prstGeom prst="rect">
            <a:avLst/>
          </a:prstGeom>
        </p:spPr>
      </p:pic>
      <p:sp>
        <p:nvSpPr>
          <p:cNvPr id="40" name="Text 25">
            <a:extLst>
              <a:ext uri="{FF2B5EF4-FFF2-40B4-BE49-F238E27FC236}">
                <a16:creationId xmlns:a16="http://schemas.microsoft.com/office/drawing/2014/main" id="{BE436584-154B-5182-524D-888CD0C6924F}"/>
              </a:ext>
            </a:extLst>
          </p:cNvPr>
          <p:cNvSpPr/>
          <p:nvPr/>
        </p:nvSpPr>
        <p:spPr>
          <a:xfrm>
            <a:off x="8686800" y="248716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National Bank</a:t>
            </a:r>
            <a:endParaRPr lang="en-US" sz="950" dirty="0"/>
          </a:p>
        </p:txBody>
      </p:sp>
      <p:pic>
        <p:nvPicPr>
          <p:cNvPr id="41" name="Image 10" descr="assets/check_green.png">
            <a:extLst>
              <a:ext uri="{FF2B5EF4-FFF2-40B4-BE49-F238E27FC236}">
                <a16:creationId xmlns:a16="http://schemas.microsoft.com/office/drawing/2014/main" id="{5E74D4FC-4D27-8DB2-C6E3-F6E88EC0A89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2798064"/>
            <a:ext cx="137160" cy="137160"/>
          </a:xfrm>
          <a:prstGeom prst="rect">
            <a:avLst/>
          </a:prstGeom>
        </p:spPr>
      </p:pic>
      <p:sp>
        <p:nvSpPr>
          <p:cNvPr id="42" name="Text 26">
            <a:extLst>
              <a:ext uri="{FF2B5EF4-FFF2-40B4-BE49-F238E27FC236}">
                <a16:creationId xmlns:a16="http://schemas.microsoft.com/office/drawing/2014/main" id="{2640B209-4412-0DC9-F5A5-CF3D86D59EE3}"/>
              </a:ext>
            </a:extLst>
          </p:cNvPr>
          <p:cNvSpPr/>
          <p:nvPr/>
        </p:nvSpPr>
        <p:spPr>
          <a:xfrm>
            <a:off x="8686800" y="2743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Capital Bank</a:t>
            </a:r>
            <a:endParaRPr lang="en-US" sz="950" dirty="0"/>
          </a:p>
        </p:txBody>
      </p:sp>
      <p:pic>
        <p:nvPicPr>
          <p:cNvPr id="43" name="Image 11" descr="assets/check_green.png">
            <a:extLst>
              <a:ext uri="{FF2B5EF4-FFF2-40B4-BE49-F238E27FC236}">
                <a16:creationId xmlns:a16="http://schemas.microsoft.com/office/drawing/2014/main" id="{0C1ADC5C-D722-00F5-E749-46F656EE564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6488" y="3054096"/>
            <a:ext cx="137160" cy="137160"/>
          </a:xfrm>
          <a:prstGeom prst="rect">
            <a:avLst/>
          </a:prstGeom>
        </p:spPr>
      </p:pic>
      <p:sp>
        <p:nvSpPr>
          <p:cNvPr id="44" name="Text 27">
            <a:extLst>
              <a:ext uri="{FF2B5EF4-FFF2-40B4-BE49-F238E27FC236}">
                <a16:creationId xmlns:a16="http://schemas.microsoft.com/office/drawing/2014/main" id="{E1574166-BEB0-3510-61E2-AE6806CC2DE3}"/>
              </a:ext>
            </a:extLst>
          </p:cNvPr>
          <p:cNvSpPr/>
          <p:nvPr/>
        </p:nvSpPr>
        <p:spPr>
          <a:xfrm>
            <a:off x="8686800" y="2999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Falcon Bank</a:t>
            </a:r>
            <a:endParaRPr lang="en-US" sz="950" dirty="0"/>
          </a:p>
        </p:txBody>
      </p:sp>
      <p:sp>
        <p:nvSpPr>
          <p:cNvPr id="45" name="Text 28">
            <a:extLst>
              <a:ext uri="{FF2B5EF4-FFF2-40B4-BE49-F238E27FC236}">
                <a16:creationId xmlns:a16="http://schemas.microsoft.com/office/drawing/2014/main" id="{92E714C5-06EB-0CD9-3EE7-6ADCAECEFF56}"/>
              </a:ext>
            </a:extLst>
          </p:cNvPr>
          <p:cNvSpPr/>
          <p:nvPr/>
        </p:nvSpPr>
        <p:spPr>
          <a:xfrm>
            <a:off x="8476488" y="33284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more accounts</a:t>
            </a:r>
            <a:endParaRPr lang="en-US" sz="900" dirty="0"/>
          </a:p>
        </p:txBody>
      </p:sp>
      <p:graphicFrame>
        <p:nvGraphicFramePr>
          <p:cNvPr id="46" name="Table 0">
            <a:extLst>
              <a:ext uri="{FF2B5EF4-FFF2-40B4-BE49-F238E27FC236}">
                <a16:creationId xmlns:a16="http://schemas.microsoft.com/office/drawing/2014/main" id="{CE803C1F-E4DF-A3C6-D92A-6ADD29892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8904"/>
              </p:ext>
            </p:extLst>
          </p:nvPr>
        </p:nvGraphicFramePr>
        <p:xfrm>
          <a:off x="457200" y="4526280"/>
          <a:ext cx="10515600" cy="1664208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Bank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Opening Balance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Revenue &amp; Other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Expenses &amp; Other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Closing Balance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D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7DEE9"/>
                          </a:solidFill>
                        </a:rPr>
                        <a:t>Horizon Bank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7DEE9"/>
                          </a:solidFill>
                        </a:rPr>
                        <a:t>412,000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9FE0BE"/>
                          </a:solidFill>
                        </a:rPr>
                        <a:t>8,650,000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0A8A0"/>
                          </a:solidFill>
                        </a:rPr>
                        <a:t>7,390,000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1,672,000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7DEE9"/>
                          </a:solidFill>
                        </a:rPr>
                        <a:t>Meridian Bank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7DEE9"/>
                          </a:solidFill>
                        </a:rPr>
                        <a:t>318,500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9FE0BE"/>
                          </a:solidFill>
                        </a:rPr>
                        <a:t>6,120,000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0A8A0"/>
                          </a:solidFill>
                        </a:rPr>
                        <a:t>5,540,000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898,500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7DEE9"/>
                          </a:solidFill>
                        </a:rPr>
                        <a:t>Coral Trust Bank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7DEE9"/>
                          </a:solidFill>
                        </a:rPr>
                        <a:t>275,000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9FE0BE"/>
                          </a:solidFill>
                        </a:rPr>
                        <a:t>4,980,000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0A8A0"/>
                          </a:solidFill>
                        </a:rPr>
                        <a:t>4,215,000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1,040,000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7DEE9"/>
                          </a:solidFill>
                        </a:rPr>
                        <a:t>Atlas National Bank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7DEE9"/>
                          </a:solidFill>
                        </a:rPr>
                        <a:t>198,000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9FE0BE"/>
                          </a:solidFill>
                        </a:rPr>
                        <a:t>3,760,000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0A8A0"/>
                          </a:solidFill>
                        </a:rPr>
                        <a:t>3,410,000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548,000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7DEE9"/>
                          </a:solidFill>
                        </a:rPr>
                        <a:t>Nile Capital Bank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D7DEE9"/>
                          </a:solidFill>
                        </a:rPr>
                        <a:t>156,000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9FE0BE"/>
                          </a:solidFill>
                        </a:rPr>
                        <a:t>2,990,000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0A8A0"/>
                          </a:solidFill>
                        </a:rPr>
                        <a:t>2,705,000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441,000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E0B45C"/>
                          </a:solidFill>
                        </a:rPr>
                        <a:t>Total (9 accounts)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0B45C"/>
                          </a:solidFill>
                        </a:rPr>
                        <a:t>1,859,500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0B45C"/>
                          </a:solidFill>
                        </a:rPr>
                        <a:t>35,535,000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0B45C"/>
                          </a:solidFill>
                        </a:rPr>
                        <a:t>31,421,000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E0B45C"/>
                          </a:solidFill>
                        </a:rPr>
                        <a:t>5,973,500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46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7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7" name="Text 29">
            <a:extLst>
              <a:ext uri="{FF2B5EF4-FFF2-40B4-BE49-F238E27FC236}">
                <a16:creationId xmlns:a16="http://schemas.microsoft.com/office/drawing/2014/main" id="{70CE78B2-87A9-3D0B-43E4-A1C2C95E3BB3}"/>
              </a:ext>
            </a:extLst>
          </p:cNvPr>
          <p:cNvSpPr/>
          <p:nvPr/>
        </p:nvSpPr>
        <p:spPr>
          <a:xfrm>
            <a:off x="4572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E9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top 5 of 9 accounts  ·  Full breakdown available in the live Power BI model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503271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146</Words>
  <Application>Microsoft Office PowerPoint</Application>
  <PresentationFormat>Widescreen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Data Analyst</dc:creator>
  <cp:lastModifiedBy>Data Analyst</cp:lastModifiedBy>
  <cp:revision>2</cp:revision>
  <dcterms:created xsi:type="dcterms:W3CDTF">2026-06-21T16:29:47Z</dcterms:created>
  <dcterms:modified xsi:type="dcterms:W3CDTF">2026-06-21T17:33:39Z</dcterms:modified>
</cp:coreProperties>
</file>